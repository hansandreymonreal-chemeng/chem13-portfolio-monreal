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itter" charset="1" panose="02000000000000000000"/>
      <p:regular r:id="rId17"/>
    </p:embeddedFont>
    <p:embeddedFont>
      <p:font typeface="Lilita One" charset="1" panose="02000000000000000000"/>
      <p:regular r:id="rId18"/>
    </p:embeddedFont>
    <p:embeddedFont>
      <p:font typeface="Roboto Bold Italics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3659" y="1556772"/>
            <a:ext cx="16235641" cy="6842318"/>
            <a:chOff x="0" y="0"/>
            <a:chExt cx="21647521" cy="912309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69461"/>
              <a:ext cx="21647521" cy="9053367"/>
              <a:chOff x="0" y="0"/>
              <a:chExt cx="3098007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98007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1263481"/>
                    </a:lnTo>
                    <a:cubicBezTo>
                      <a:pt x="3098007" y="1272010"/>
                      <a:pt x="3094619" y="1280190"/>
                      <a:pt x="3088588" y="1286221"/>
                    </a:cubicBezTo>
                    <a:cubicBezTo>
                      <a:pt x="3082557" y="1292252"/>
                      <a:pt x="3074377" y="1295640"/>
                      <a:pt x="3065848" y="1295640"/>
                    </a:cubicBezTo>
                    <a:lnTo>
                      <a:pt x="32159" y="1295640"/>
                    </a:lnTo>
                    <a:cubicBezTo>
                      <a:pt x="23630" y="1295640"/>
                      <a:pt x="15450" y="1292252"/>
                      <a:pt x="9419" y="1286221"/>
                    </a:cubicBezTo>
                    <a:cubicBezTo>
                      <a:pt x="3388" y="1280190"/>
                      <a:pt x="0" y="1272010"/>
                      <a:pt x="0" y="1263481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098007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72"/>
              <a:ext cx="21647521" cy="1804723"/>
              <a:chOff x="0" y="0"/>
              <a:chExt cx="3098007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98007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226117"/>
                    </a:lnTo>
                    <a:cubicBezTo>
                      <a:pt x="3098007" y="234646"/>
                      <a:pt x="3094619" y="242826"/>
                      <a:pt x="3088588" y="248857"/>
                    </a:cubicBezTo>
                    <a:cubicBezTo>
                      <a:pt x="3082557" y="254888"/>
                      <a:pt x="3074377" y="258276"/>
                      <a:pt x="3065848" y="258276"/>
                    </a:cubicBezTo>
                    <a:lnTo>
                      <a:pt x="32159" y="258276"/>
                    </a:lnTo>
                    <a:cubicBezTo>
                      <a:pt x="23630" y="258276"/>
                      <a:pt x="15450" y="254888"/>
                      <a:pt x="9419" y="248857"/>
                    </a:cubicBezTo>
                    <a:cubicBezTo>
                      <a:pt x="3388" y="242826"/>
                      <a:pt x="0" y="234646"/>
                      <a:pt x="0" y="226117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3098007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902534"/>
              <a:ext cx="21647521" cy="902361"/>
              <a:chOff x="0" y="0"/>
              <a:chExt cx="3098007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098007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3098007">
                    <a:moveTo>
                      <a:pt x="0" y="0"/>
                    </a:moveTo>
                    <a:lnTo>
                      <a:pt x="3098007" y="0"/>
                    </a:lnTo>
                    <a:lnTo>
                      <a:pt x="3098007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3098007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 flipH="true">
              <a:off x="15776370" y="263"/>
              <a:ext cx="63835" cy="9122565"/>
            </a:xfrm>
            <a:prstGeom prst="line">
              <a:avLst/>
            </a:prstGeom>
            <a:ln cap="flat" w="75132">
              <a:solidFill>
                <a:srgbClr val="ABBCD5"/>
              </a:solidFill>
              <a:prstDash val="lgDash"/>
              <a:headEnd type="none" len="sm" w="sm"/>
              <a:tailEnd type="none" len="sm" w="sm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268395" y="2497163"/>
              <a:ext cx="806421" cy="5993667"/>
            </a:xfrm>
            <a:custGeom>
              <a:avLst/>
              <a:gdLst/>
              <a:ahLst/>
              <a:cxnLst/>
              <a:rect r="r" b="b" t="t" l="l"/>
              <a:pathLst>
                <a:path h="5993667" w="806421">
                  <a:moveTo>
                    <a:pt x="0" y="0"/>
                  </a:moveTo>
                  <a:lnTo>
                    <a:pt x="806420" y="0"/>
                  </a:lnTo>
                  <a:lnTo>
                    <a:pt x="806420" y="5993667"/>
                  </a:lnTo>
                  <a:lnTo>
                    <a:pt x="0" y="5993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6767587" y="7266235"/>
              <a:ext cx="2130297" cy="540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  <a:r>
                <a:rPr lang="en-US" sz="2721">
                  <a:solidFill>
                    <a:srgbClr val="828282"/>
                  </a:solidFill>
                  <a:latin typeface="Bitter"/>
                  <a:ea typeface="Bitter"/>
                  <a:cs typeface="Bitter"/>
                  <a:sym typeface="Bitter"/>
                </a:rPr>
                <a:t>SEAT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767587" y="3202763"/>
              <a:ext cx="2130297" cy="540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  <a:r>
                <a:rPr lang="en-US" sz="2721">
                  <a:solidFill>
                    <a:srgbClr val="828282"/>
                  </a:solidFill>
                  <a:latin typeface="Bitter"/>
                  <a:ea typeface="Bitter"/>
                  <a:cs typeface="Bitter"/>
                  <a:sym typeface="Bitter"/>
                </a:rPr>
                <a:t>NAME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767587" y="4557254"/>
              <a:ext cx="2130297" cy="540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  <a:r>
                <a:rPr lang="en-US" sz="2721">
                  <a:solidFill>
                    <a:srgbClr val="828282"/>
                  </a:solidFill>
                  <a:latin typeface="Bitter"/>
                  <a:ea typeface="Bitter"/>
                  <a:cs typeface="Bitter"/>
                  <a:sym typeface="Bitter"/>
                </a:rPr>
                <a:t>FLIGHT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767587" y="5911744"/>
              <a:ext cx="2130297" cy="540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5"/>
                </a:lnSpc>
              </a:pPr>
              <a:r>
                <a:rPr lang="en-US" sz="2721">
                  <a:solidFill>
                    <a:srgbClr val="828282"/>
                  </a:solidFill>
                  <a:latin typeface="Bitter"/>
                  <a:ea typeface="Bitter"/>
                  <a:cs typeface="Bitter"/>
                  <a:sym typeface="Bitter"/>
                </a:rPr>
                <a:t>GATE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66062" y="6258587"/>
            <a:ext cx="10621436" cy="9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0"/>
              </a:lnSpc>
            </a:pPr>
            <a:r>
              <a:rPr lang="en-US" sz="6430">
                <a:solidFill>
                  <a:srgbClr val="125DA2"/>
                </a:solidFill>
                <a:latin typeface="Lilita One"/>
                <a:ea typeface="Lilita One"/>
                <a:cs typeface="Lilita One"/>
                <a:sym typeface="Lilita One"/>
              </a:rPr>
              <a:t> CHEMICAL ENGINEERING 2A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7928" y="1887025"/>
            <a:ext cx="11329752" cy="86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41"/>
              </a:lnSpc>
            </a:pPr>
            <a:r>
              <a:rPr lang="en-US" sz="5826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ACTIVITY 2 ORGANIC CHEMISTRY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5539" y="3788818"/>
            <a:ext cx="8172637" cy="222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7350" spc="-147">
                <a:solidFill>
                  <a:srgbClr val="000000"/>
                </a:solidFill>
                <a:latin typeface="Bitter"/>
                <a:ea typeface="Bitter"/>
                <a:cs typeface="Bitter"/>
                <a:sym typeface="Bitter"/>
              </a:rPr>
              <a:t>HANS ANDREY R. MONREAL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80277" y="8618165"/>
            <a:ext cx="11327445" cy="98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sz="2265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Disclaimer: Good day, Engr. Barajas! I am unfortunate to tell you that I have not found the setting that allows me to attatch a hydrogen to a oxygen or nitrogen molecule which is why I attached another bond to them in the bond line structure I made, terribly sorry.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ABBCD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682" y="357555"/>
            <a:ext cx="17134637" cy="9571889"/>
            <a:chOff x="0" y="0"/>
            <a:chExt cx="22846182" cy="12762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935"/>
              <a:ext cx="22846182" cy="1266558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846182" cy="2524792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2396"/>
              <a:ext cx="22846182" cy="1262396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037" y="10165161"/>
              <a:ext cx="2248255" cy="75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62" y="2261336"/>
            <a:ext cx="0" cy="7668108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76682" y="5686030"/>
            <a:ext cx="17134637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872640" y="3155335"/>
            <a:ext cx="3199111" cy="2231575"/>
          </a:xfrm>
          <a:custGeom>
            <a:avLst/>
            <a:gdLst/>
            <a:ahLst/>
            <a:cxnLst/>
            <a:rect r="r" b="b" t="t" l="l"/>
            <a:pathLst>
              <a:path h="2231575" w="3199111">
                <a:moveTo>
                  <a:pt x="0" y="0"/>
                </a:moveTo>
                <a:lnTo>
                  <a:pt x="3199111" y="0"/>
                </a:lnTo>
                <a:lnTo>
                  <a:pt x="3199111" y="2231575"/>
                </a:lnTo>
                <a:lnTo>
                  <a:pt x="0" y="2231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306522" y="7006198"/>
            <a:ext cx="2624429" cy="2282112"/>
          </a:xfrm>
          <a:custGeom>
            <a:avLst/>
            <a:gdLst/>
            <a:ahLst/>
            <a:cxnLst/>
            <a:rect r="r" b="b" t="t" l="l"/>
            <a:pathLst>
              <a:path h="2282112" w="2624429">
                <a:moveTo>
                  <a:pt x="0" y="0"/>
                </a:moveTo>
                <a:lnTo>
                  <a:pt x="2624428" y="0"/>
                </a:lnTo>
                <a:lnTo>
                  <a:pt x="2624428" y="2282112"/>
                </a:lnTo>
                <a:lnTo>
                  <a:pt x="0" y="2282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7216" y="2490694"/>
            <a:ext cx="5017821" cy="64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624" indent="-409312" lvl="1">
              <a:lnSpc>
                <a:spcPts val="5308"/>
              </a:lnSpc>
              <a:buAutoNum type="arabicPeriod" startAt="1"/>
            </a:pPr>
            <a:r>
              <a:rPr lang="en-US" b="true" sz="379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6085" y="2490694"/>
            <a:ext cx="4356081" cy="64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624" indent="-409312" lvl="1">
              <a:lnSpc>
                <a:spcPts val="5308"/>
              </a:lnSpc>
              <a:buAutoNum type="arabicPeriod" startAt="1"/>
            </a:pPr>
            <a:r>
              <a:rPr lang="en-US" b="true" sz="379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3685" y="6081922"/>
            <a:ext cx="7344883" cy="6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7593" indent="-408797" lvl="1">
              <a:lnSpc>
                <a:spcPts val="5301"/>
              </a:lnSpc>
              <a:buAutoNum type="arabicPeriod" startAt="1"/>
            </a:pPr>
            <a:r>
              <a:rPr lang="en-US" b="true" sz="378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671" y="6081922"/>
            <a:ext cx="7026910" cy="6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7593" indent="-408797" lvl="1">
              <a:lnSpc>
                <a:spcPts val="5301"/>
              </a:lnSpc>
              <a:buAutoNum type="arabicPeriod" startAt="1"/>
            </a:pPr>
            <a:r>
              <a:rPr lang="en-US" b="true" sz="378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1478" y="929990"/>
            <a:ext cx="6325043" cy="106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4"/>
              </a:lnSpc>
            </a:pPr>
            <a:r>
              <a:rPr lang="en-US" b="true" sz="4668" i="true" spc="-410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01 - Propane</a:t>
            </a:r>
          </a:p>
          <a:p>
            <a:pPr algn="ctr">
              <a:lnSpc>
                <a:spcPts val="4014"/>
              </a:lnSpc>
            </a:pPr>
            <a:r>
              <a:rPr lang="en-US" b="true" sz="4668" i="true" spc="-410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C₃H₈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6144" y="2879110"/>
            <a:ext cx="3959964" cy="24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8"/>
              </a:lnSpc>
            </a:pPr>
            <a:r>
              <a:rPr lang="en-US" b="true" sz="141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C₃H₈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9352" y="6949468"/>
            <a:ext cx="6246827" cy="161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6"/>
              </a:lnSpc>
            </a:pPr>
            <a:r>
              <a:rPr lang="en-US" b="true" sz="945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CH₃CH₂CH₃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9471" y="442908"/>
            <a:ext cx="16829058" cy="9401184"/>
            <a:chOff x="0" y="0"/>
            <a:chExt cx="22438744" cy="125349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206"/>
              <a:ext cx="22438744" cy="12439706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438744" cy="2479765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9883"/>
              <a:ext cx="22438744" cy="1239883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380447" y="9993400"/>
              <a:ext cx="2208159" cy="733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7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748" y="2312737"/>
            <a:ext cx="0" cy="7531355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729471" y="5676355"/>
            <a:ext cx="16829058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271277" y="2893612"/>
            <a:ext cx="4252614" cy="2598820"/>
          </a:xfrm>
          <a:custGeom>
            <a:avLst/>
            <a:gdLst/>
            <a:ahLst/>
            <a:cxnLst/>
            <a:rect r="r" b="b" t="t" l="l"/>
            <a:pathLst>
              <a:path h="2598820" w="4252614">
                <a:moveTo>
                  <a:pt x="0" y="0"/>
                </a:moveTo>
                <a:lnTo>
                  <a:pt x="4252614" y="0"/>
                </a:lnTo>
                <a:lnTo>
                  <a:pt x="4252614" y="2598820"/>
                </a:lnTo>
                <a:lnTo>
                  <a:pt x="0" y="259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66103" y="7263655"/>
            <a:ext cx="5991856" cy="1647760"/>
          </a:xfrm>
          <a:custGeom>
            <a:avLst/>
            <a:gdLst/>
            <a:ahLst/>
            <a:cxnLst/>
            <a:rect r="r" b="b" t="t" l="l"/>
            <a:pathLst>
              <a:path h="1647760" w="5991856">
                <a:moveTo>
                  <a:pt x="0" y="0"/>
                </a:moveTo>
                <a:lnTo>
                  <a:pt x="5991856" y="0"/>
                </a:lnTo>
                <a:lnTo>
                  <a:pt x="5991856" y="1647760"/>
                </a:lnTo>
                <a:lnTo>
                  <a:pt x="0" y="1647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91640" y="2536645"/>
            <a:ext cx="4928333" cy="63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025" indent="-402012" lvl="1">
              <a:lnSpc>
                <a:spcPts val="5213"/>
              </a:lnSpc>
              <a:buAutoNum type="arabicPeriod" startAt="1"/>
            </a:pPr>
            <a:r>
              <a:rPr lang="en-US" b="true" sz="372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0023" y="2536645"/>
            <a:ext cx="4278395" cy="63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025" indent="-402012" lvl="1">
              <a:lnSpc>
                <a:spcPts val="5213"/>
              </a:lnSpc>
              <a:buAutoNum type="arabicPeriod" startAt="1"/>
            </a:pPr>
            <a:r>
              <a:rPr lang="en-US" b="true" sz="372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8859" y="6063828"/>
            <a:ext cx="7213894" cy="63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3012" indent="-401506" lvl="1">
              <a:lnSpc>
                <a:spcPts val="5207"/>
              </a:lnSpc>
              <a:buAutoNum type="arabicPeriod" startAt="1"/>
            </a:pPr>
            <a:r>
              <a:rPr lang="en-US" b="true" sz="371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18424" y="6063828"/>
            <a:ext cx="6901592" cy="63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3012" indent="-401506" lvl="1">
              <a:lnSpc>
                <a:spcPts val="5207"/>
              </a:lnSpc>
              <a:buAutoNum type="arabicPeriod" startAt="1"/>
            </a:pPr>
            <a:r>
              <a:rPr lang="en-US" b="true" sz="371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7879" y="1007682"/>
            <a:ext cx="6212243" cy="1039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b="true" sz="4585" i="true" spc="-403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02 - Ethanol</a:t>
            </a:r>
          </a:p>
          <a:p>
            <a:pPr algn="ctr">
              <a:lnSpc>
                <a:spcPts val="3943"/>
              </a:lnSpc>
            </a:pPr>
            <a:r>
              <a:rPr lang="en-US" b="true" sz="4585" i="true" spc="-403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C₂H₆O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9008" y="3005481"/>
            <a:ext cx="4288154" cy="19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8"/>
              </a:lnSpc>
            </a:pPr>
            <a:r>
              <a:rPr lang="en-US" b="true" sz="1139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C₂H₆O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763" y="6913863"/>
            <a:ext cx="6135422" cy="159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0"/>
              </a:lnSpc>
            </a:pPr>
            <a:r>
              <a:rPr lang="en-US" b="true" sz="9285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CH₃CH₂OH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558" y="339610"/>
            <a:ext cx="17198884" cy="9607779"/>
            <a:chOff x="0" y="0"/>
            <a:chExt cx="22931845" cy="128103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299"/>
              <a:ext cx="22931845" cy="1271307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31845" cy="2534259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7129"/>
              <a:ext cx="22931845" cy="126712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62389" y="10203275"/>
              <a:ext cx="2256685" cy="759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5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23" y="2250530"/>
            <a:ext cx="0" cy="769686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44558" y="5688064"/>
            <a:ext cx="17198884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984485" y="2667880"/>
            <a:ext cx="2750779" cy="3020185"/>
          </a:xfrm>
          <a:custGeom>
            <a:avLst/>
            <a:gdLst/>
            <a:ahLst/>
            <a:cxnLst/>
            <a:rect r="r" b="b" t="t" l="l"/>
            <a:pathLst>
              <a:path h="3020185" w="2750779">
                <a:moveTo>
                  <a:pt x="0" y="0"/>
                </a:moveTo>
                <a:lnTo>
                  <a:pt x="2750778" y="0"/>
                </a:lnTo>
                <a:lnTo>
                  <a:pt x="2750778" y="3020184"/>
                </a:lnTo>
                <a:lnTo>
                  <a:pt x="0" y="302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13540" y="6993421"/>
            <a:ext cx="1233217" cy="2332388"/>
          </a:xfrm>
          <a:custGeom>
            <a:avLst/>
            <a:gdLst/>
            <a:ahLst/>
            <a:cxnLst/>
            <a:rect r="r" b="b" t="t" l="l"/>
            <a:pathLst>
              <a:path h="2332388" w="1233217">
                <a:moveTo>
                  <a:pt x="0" y="0"/>
                </a:moveTo>
                <a:lnTo>
                  <a:pt x="1233217" y="0"/>
                </a:lnTo>
                <a:lnTo>
                  <a:pt x="1233217" y="2332387"/>
                </a:lnTo>
                <a:lnTo>
                  <a:pt x="0" y="2332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41056" y="2481033"/>
            <a:ext cx="5036635" cy="65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693" indent="-410847" lvl="1">
              <a:lnSpc>
                <a:spcPts val="5328"/>
              </a:lnSpc>
              <a:buAutoNum type="arabicPeriod" startAt="1"/>
            </a:pPr>
            <a:r>
              <a:rPr lang="en-US" b="true" sz="3805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9129" y="2295475"/>
            <a:ext cx="4372414" cy="65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693" indent="-410847" lvl="1">
              <a:lnSpc>
                <a:spcPts val="5328"/>
              </a:lnSpc>
              <a:buAutoNum type="arabicPeriod" startAt="1"/>
            </a:pPr>
            <a:r>
              <a:rPr lang="en-US" b="true" sz="3805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162" y="6085727"/>
            <a:ext cx="7372423" cy="65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659" indent="-410329" lvl="1">
              <a:lnSpc>
                <a:spcPts val="5321"/>
              </a:lnSpc>
              <a:buAutoNum type="arabicPeriod" startAt="1"/>
            </a:pPr>
            <a:r>
              <a:rPr lang="en-US" b="true" sz="380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245" y="6085727"/>
            <a:ext cx="7053257" cy="65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659" indent="-410329" lvl="1">
              <a:lnSpc>
                <a:spcPts val="5321"/>
              </a:lnSpc>
              <a:buAutoNum type="arabicPeriod" startAt="1"/>
            </a:pPr>
            <a:r>
              <a:rPr lang="en-US" b="true" sz="380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5228" y="913655"/>
            <a:ext cx="8937544" cy="10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b="true" sz="4685" i="true" spc="-412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03 - Acetone (propan-2-one) </a:t>
            </a:r>
          </a:p>
          <a:p>
            <a:pPr algn="ctr">
              <a:lnSpc>
                <a:spcPts val="4029"/>
              </a:lnSpc>
            </a:pPr>
            <a:r>
              <a:rPr lang="en-US" b="true" sz="4685" i="true" spc="-412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C₃H₆O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7288" y="2948643"/>
            <a:ext cx="4470404" cy="200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9"/>
              </a:lnSpc>
            </a:pPr>
            <a:r>
              <a:rPr lang="en-US" b="true" sz="1172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C₃H₆O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1513" y="6966479"/>
            <a:ext cx="6270250" cy="161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b="true" sz="948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CH₃COCH₃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2658" y="377653"/>
            <a:ext cx="17062684" cy="9531695"/>
            <a:chOff x="0" y="0"/>
            <a:chExt cx="22750246" cy="12708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528"/>
              <a:ext cx="22750246" cy="12612398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750246" cy="2514190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7095"/>
              <a:ext cx="22750246" cy="1257095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21727" y="10122475"/>
              <a:ext cx="2238814" cy="75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4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06" y="2273439"/>
            <a:ext cx="0" cy="7635908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12658" y="5683752"/>
            <a:ext cx="17062684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456911" y="2862378"/>
            <a:ext cx="3868337" cy="2991301"/>
          </a:xfrm>
          <a:custGeom>
            <a:avLst/>
            <a:gdLst/>
            <a:ahLst/>
            <a:cxnLst/>
            <a:rect r="r" b="b" t="t" l="l"/>
            <a:pathLst>
              <a:path h="2991301" w="3868337">
                <a:moveTo>
                  <a:pt x="0" y="0"/>
                </a:moveTo>
                <a:lnTo>
                  <a:pt x="3868337" y="0"/>
                </a:lnTo>
                <a:lnTo>
                  <a:pt x="3868337" y="2991301"/>
                </a:lnTo>
                <a:lnTo>
                  <a:pt x="0" y="2991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03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35185" y="6865770"/>
            <a:ext cx="2624228" cy="2710741"/>
          </a:xfrm>
          <a:custGeom>
            <a:avLst/>
            <a:gdLst/>
            <a:ahLst/>
            <a:cxnLst/>
            <a:rect r="r" b="b" t="t" l="l"/>
            <a:pathLst>
              <a:path h="2710741" w="2624228">
                <a:moveTo>
                  <a:pt x="0" y="0"/>
                </a:moveTo>
                <a:lnTo>
                  <a:pt x="2624228" y="0"/>
                </a:lnTo>
                <a:lnTo>
                  <a:pt x="2624228" y="2710741"/>
                </a:lnTo>
                <a:lnTo>
                  <a:pt x="0" y="2710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96513" y="2511039"/>
            <a:ext cx="4996750" cy="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186" indent="-407593" lvl="1">
              <a:lnSpc>
                <a:spcPts val="5286"/>
              </a:lnSpc>
              <a:buAutoNum type="arabicPeriod" startAt="1"/>
            </a:pPr>
            <a:r>
              <a:rPr lang="en-US" b="true" sz="3775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7594" y="2341111"/>
            <a:ext cx="4337788" cy="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186" indent="-407593" lvl="1">
              <a:lnSpc>
                <a:spcPts val="5286"/>
              </a:lnSpc>
              <a:buAutoNum type="arabicPeriod" startAt="1"/>
            </a:pPr>
            <a:r>
              <a:rPr lang="en-US" b="true" sz="3775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68" y="6077662"/>
            <a:ext cx="7314040" cy="64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4160" indent="-407080" lvl="1">
              <a:lnSpc>
                <a:spcPts val="5279"/>
              </a:lnSpc>
              <a:buAutoNum type="arabicPeriod" startAt="1"/>
            </a:pPr>
            <a:r>
              <a:rPr lang="en-US" b="true" sz="377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7787" y="6077662"/>
            <a:ext cx="6997402" cy="64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160" indent="-407080" lvl="1">
              <a:lnSpc>
                <a:spcPts val="5279"/>
              </a:lnSpc>
              <a:buAutoNum type="arabicPeriod" startAt="1"/>
            </a:pPr>
            <a:r>
              <a:rPr lang="en-US" b="true" sz="377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76132" y="957808"/>
            <a:ext cx="8514947" cy="104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b="true" sz="4648" i="true" spc="-409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04 - Acetic Acid (ethanoic acid) </a:t>
            </a:r>
          </a:p>
          <a:p>
            <a:pPr algn="ctr">
              <a:lnSpc>
                <a:spcPts val="3997"/>
              </a:lnSpc>
            </a:pPr>
            <a:r>
              <a:rPr lang="en-US" b="true" sz="4648" i="true" spc="-409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C₂H₄O₂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5160" y="2887458"/>
            <a:ext cx="5821943" cy="240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5"/>
              </a:lnSpc>
            </a:pPr>
            <a:r>
              <a:rPr lang="en-US" b="true" sz="1413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C₂H₄O₂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530" y="6941084"/>
            <a:ext cx="6220596" cy="161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0"/>
              </a:lnSpc>
            </a:pPr>
            <a:r>
              <a:rPr lang="en-US" b="true" sz="941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CH₃COOH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4011" y="328132"/>
            <a:ext cx="17239977" cy="9630735"/>
            <a:chOff x="0" y="0"/>
            <a:chExt cx="22986636" cy="128409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531"/>
              <a:ext cx="22986636" cy="12743449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86636" cy="2540314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0157"/>
              <a:ext cx="22986636" cy="127015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04829" y="10227654"/>
              <a:ext cx="2262077" cy="761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6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98" y="2243617"/>
            <a:ext cx="0" cy="771525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24011" y="5689365"/>
            <a:ext cx="17239977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947795" y="3126298"/>
            <a:ext cx="5151011" cy="2420588"/>
          </a:xfrm>
          <a:custGeom>
            <a:avLst/>
            <a:gdLst/>
            <a:ahLst/>
            <a:cxnLst/>
            <a:rect r="r" b="b" t="t" l="l"/>
            <a:pathLst>
              <a:path h="2420588" w="5151011">
                <a:moveTo>
                  <a:pt x="0" y="0"/>
                </a:moveTo>
                <a:lnTo>
                  <a:pt x="5151010" y="0"/>
                </a:lnTo>
                <a:lnTo>
                  <a:pt x="5151010" y="2420587"/>
                </a:lnTo>
                <a:lnTo>
                  <a:pt x="0" y="2420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42162" y="6854026"/>
            <a:ext cx="4055570" cy="2672989"/>
          </a:xfrm>
          <a:custGeom>
            <a:avLst/>
            <a:gdLst/>
            <a:ahLst/>
            <a:cxnLst/>
            <a:rect r="r" b="b" t="t" l="l"/>
            <a:pathLst>
              <a:path h="2672989" w="4055570">
                <a:moveTo>
                  <a:pt x="0" y="0"/>
                </a:moveTo>
                <a:lnTo>
                  <a:pt x="4055570" y="0"/>
                </a:lnTo>
                <a:lnTo>
                  <a:pt x="4055570" y="2672989"/>
                </a:lnTo>
                <a:lnTo>
                  <a:pt x="0" y="2672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24324" y="2474854"/>
            <a:ext cx="5048669" cy="6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657" indent="-411828" lvl="1">
              <a:lnSpc>
                <a:spcPts val="5340"/>
              </a:lnSpc>
              <a:buAutoNum type="arabicPeriod" startAt="1"/>
            </a:pPr>
            <a:r>
              <a:rPr lang="en-US" b="true" sz="381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8516" y="2474854"/>
            <a:ext cx="4382861" cy="65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657" indent="-411828" lvl="1">
              <a:lnSpc>
                <a:spcPts val="5340"/>
              </a:lnSpc>
              <a:buAutoNum type="arabicPeriod" startAt="1"/>
            </a:pPr>
            <a:r>
              <a:rPr lang="en-US" b="true" sz="381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640" y="6088160"/>
            <a:ext cx="7390038" cy="65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2619" indent="-411310" lvl="1">
              <a:lnSpc>
                <a:spcPts val="5334"/>
              </a:lnSpc>
              <a:buAutoNum type="arabicPeriod" startAt="1"/>
            </a:pPr>
            <a:r>
              <a:rPr lang="en-US" b="true" sz="381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4892" y="6088160"/>
            <a:ext cx="7070110" cy="65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619" indent="-411310" lvl="1">
              <a:lnSpc>
                <a:spcPts val="5334"/>
              </a:lnSpc>
              <a:buAutoNum type="arabicPeriod" startAt="1"/>
            </a:pPr>
            <a:r>
              <a:rPr lang="en-US" b="true" sz="381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9075" y="903208"/>
            <a:ext cx="9669850" cy="106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4697" i="true" spc="-413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05 -  Ethyl acetate (ethyl ethanoate)</a:t>
            </a:r>
          </a:p>
          <a:p>
            <a:pPr algn="ctr">
              <a:lnSpc>
                <a:spcPts val="4039"/>
              </a:lnSpc>
            </a:pPr>
            <a:r>
              <a:rPr lang="en-US" b="true" sz="4697" i="true" spc="-413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C₄H₈O₂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3073" y="3070228"/>
            <a:ext cx="5271579" cy="222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1"/>
              </a:lnSpc>
            </a:pPr>
            <a:r>
              <a:rPr lang="en-US" b="true" sz="1300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C₄H₈O₂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972" y="7155425"/>
            <a:ext cx="7469782" cy="135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0"/>
              </a:lnSpc>
            </a:pPr>
            <a:r>
              <a:rPr lang="en-US" b="true" sz="7943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CH₃COOCH₂CH₃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358" y="335030"/>
            <a:ext cx="17215284" cy="9616941"/>
            <a:chOff x="0" y="0"/>
            <a:chExt cx="22953712" cy="128225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391"/>
              <a:ext cx="22953712" cy="12725197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53712" cy="253667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8338"/>
              <a:ext cx="22953712" cy="126833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79327" y="10213005"/>
              <a:ext cx="2258837" cy="760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13" y="2247771"/>
            <a:ext cx="0" cy="770420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36358" y="5688584"/>
            <a:ext cx="17215284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038712" y="2891233"/>
            <a:ext cx="3182926" cy="2900894"/>
          </a:xfrm>
          <a:custGeom>
            <a:avLst/>
            <a:gdLst/>
            <a:ahLst/>
            <a:cxnLst/>
            <a:rect r="r" b="b" t="t" l="l"/>
            <a:pathLst>
              <a:path h="2900894" w="3182926">
                <a:moveTo>
                  <a:pt x="0" y="0"/>
                </a:moveTo>
                <a:lnTo>
                  <a:pt x="3182926" y="0"/>
                </a:lnTo>
                <a:lnTo>
                  <a:pt x="3182926" y="2900894"/>
                </a:lnTo>
                <a:lnTo>
                  <a:pt x="0" y="2900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67197" y="6737440"/>
            <a:ext cx="2325957" cy="2662609"/>
          </a:xfrm>
          <a:custGeom>
            <a:avLst/>
            <a:gdLst/>
            <a:ahLst/>
            <a:cxnLst/>
            <a:rect r="r" b="b" t="t" l="l"/>
            <a:pathLst>
              <a:path h="2662609" w="2325957">
                <a:moveTo>
                  <a:pt x="0" y="0"/>
                </a:moveTo>
                <a:lnTo>
                  <a:pt x="2325957" y="0"/>
                </a:lnTo>
                <a:lnTo>
                  <a:pt x="2325957" y="2662609"/>
                </a:lnTo>
                <a:lnTo>
                  <a:pt x="0" y="266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34378" y="2478567"/>
            <a:ext cx="5041438" cy="6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477" indent="-411239" lvl="1">
              <a:lnSpc>
                <a:spcPts val="5333"/>
              </a:lnSpc>
              <a:buAutoNum type="arabicPeriod" startAt="1"/>
            </a:pPr>
            <a:r>
              <a:rPr lang="en-US" b="true" sz="380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89379" y="2369510"/>
            <a:ext cx="4376583" cy="6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477" indent="-411239" lvl="1">
              <a:lnSpc>
                <a:spcPts val="5333"/>
              </a:lnSpc>
              <a:buAutoNum type="arabicPeriod" startAt="1"/>
            </a:pPr>
            <a:r>
              <a:rPr lang="en-US" b="true" sz="380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371" y="6086698"/>
            <a:ext cx="7379453" cy="65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1441" indent="-410721" lvl="1">
              <a:lnSpc>
                <a:spcPts val="5326"/>
              </a:lnSpc>
              <a:buAutoNum type="arabicPeriod" startAt="1"/>
            </a:pPr>
            <a:r>
              <a:rPr lang="en-US" b="true" sz="380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902" y="6086698"/>
            <a:ext cx="7059983" cy="65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441" indent="-410721" lvl="1">
              <a:lnSpc>
                <a:spcPts val="5326"/>
              </a:lnSpc>
              <a:buAutoNum type="arabicPeriod" startAt="1"/>
            </a:pPr>
            <a:r>
              <a:rPr lang="en-US" b="true" sz="380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6593" y="909486"/>
            <a:ext cx="6354813" cy="106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b="true" sz="4690" i="true" spc="-412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06 - Cyclohexane</a:t>
            </a:r>
          </a:p>
          <a:p>
            <a:pPr algn="ctr">
              <a:lnSpc>
                <a:spcPts val="4033"/>
              </a:lnSpc>
            </a:pPr>
            <a:r>
              <a:rPr lang="en-US" b="true" sz="4690" i="true" spc="-412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C₆H₁₂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2835" y="2869752"/>
            <a:ext cx="4784525" cy="242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2"/>
              </a:lnSpc>
            </a:pPr>
            <a:r>
              <a:rPr lang="en-US" b="true" sz="1426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C₆H₁₂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0173" y="6749047"/>
            <a:ext cx="4940495" cy="230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8"/>
              </a:lnSpc>
            </a:pPr>
            <a:r>
              <a:rPr lang="en-US" b="true" sz="1354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(CH₂)₆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0878" y="309623"/>
            <a:ext cx="17306243" cy="9667754"/>
            <a:chOff x="0" y="0"/>
            <a:chExt cx="23074991" cy="12890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906"/>
              <a:ext cx="23074991" cy="12792432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3074991" cy="2550078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5039"/>
              <a:ext cx="23074991" cy="127503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73267" y="10257442"/>
              <a:ext cx="2270771" cy="773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4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57" y="2232471"/>
            <a:ext cx="0" cy="7744906"/>
          </a:xfrm>
          <a:prstGeom prst="line">
            <a:avLst/>
          </a:prstGeom>
          <a:ln cap="flat" w="57150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490878" y="5691464"/>
            <a:ext cx="17306243" cy="0"/>
          </a:xfrm>
          <a:prstGeom prst="line">
            <a:avLst/>
          </a:prstGeom>
          <a:ln cap="flat" w="57150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175599" y="2931828"/>
            <a:ext cx="2936328" cy="2846602"/>
          </a:xfrm>
          <a:custGeom>
            <a:avLst/>
            <a:gdLst/>
            <a:ahLst/>
            <a:cxnLst/>
            <a:rect r="r" b="b" t="t" l="l"/>
            <a:pathLst>
              <a:path h="2846602" w="2936328">
                <a:moveTo>
                  <a:pt x="0" y="0"/>
                </a:moveTo>
                <a:lnTo>
                  <a:pt x="2936328" y="0"/>
                </a:lnTo>
                <a:lnTo>
                  <a:pt x="2936328" y="2846602"/>
                </a:lnTo>
                <a:lnTo>
                  <a:pt x="0" y="284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52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08984" y="6745862"/>
            <a:ext cx="1754413" cy="3070222"/>
          </a:xfrm>
          <a:custGeom>
            <a:avLst/>
            <a:gdLst/>
            <a:ahLst/>
            <a:cxnLst/>
            <a:rect r="r" b="b" t="t" l="l"/>
            <a:pathLst>
              <a:path h="3070222" w="1754413">
                <a:moveTo>
                  <a:pt x="0" y="0"/>
                </a:moveTo>
                <a:lnTo>
                  <a:pt x="1754413" y="0"/>
                </a:lnTo>
                <a:lnTo>
                  <a:pt x="1754413" y="3070222"/>
                </a:lnTo>
                <a:lnTo>
                  <a:pt x="0" y="3070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97342" y="2464889"/>
            <a:ext cx="5068075" cy="65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6823" indent="-413411" lvl="1">
              <a:lnSpc>
                <a:spcPts val="5361"/>
              </a:lnSpc>
              <a:buAutoNum type="arabicPeriod" startAt="1"/>
            </a:pPr>
            <a:r>
              <a:rPr lang="en-US" b="true" sz="382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86337" y="2278173"/>
            <a:ext cx="4399708" cy="65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6823" indent="-413411" lvl="1">
              <a:lnSpc>
                <a:spcPts val="5361"/>
              </a:lnSpc>
              <a:buAutoNum type="arabicPeriod" startAt="1"/>
            </a:pPr>
            <a:r>
              <a:rPr lang="en-US" b="true" sz="382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2158" y="6092084"/>
            <a:ext cx="7418443" cy="6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781" indent="-412891" lvl="1">
              <a:lnSpc>
                <a:spcPts val="5354"/>
              </a:lnSpc>
              <a:buAutoNum type="arabicPeriod" startAt="1"/>
            </a:pPr>
            <a:r>
              <a:rPr lang="en-US" b="true" sz="382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7548" y="6092084"/>
            <a:ext cx="7097286" cy="65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5781" indent="-412891" lvl="1">
              <a:lnSpc>
                <a:spcPts val="5354"/>
              </a:lnSpc>
              <a:buAutoNum type="arabicPeriod" startAt="1"/>
            </a:pPr>
            <a:r>
              <a:rPr lang="en-US" b="true" sz="3824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9805" y="886360"/>
            <a:ext cx="6388390" cy="107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b="true" sz="4715" i="true" spc="-414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07 - Cyclohexanone </a:t>
            </a:r>
          </a:p>
          <a:p>
            <a:pPr algn="ctr">
              <a:lnSpc>
                <a:spcPts val="4054"/>
              </a:lnSpc>
            </a:pPr>
            <a:r>
              <a:rPr lang="en-US" b="true" sz="4715" i="true" spc="-414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C₆H₁₀O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6371" y="2868723"/>
            <a:ext cx="5995068" cy="242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8"/>
              </a:lnSpc>
            </a:pPr>
            <a:r>
              <a:rPr lang="en-US" b="true" sz="1434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C₆H₁₀O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97342" y="7008695"/>
            <a:ext cx="5214147" cy="163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b="true" sz="9549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(CH₂)₅CO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061" y="405810"/>
            <a:ext cx="16961877" cy="9475381"/>
            <a:chOff x="0" y="0"/>
            <a:chExt cx="22615836" cy="126338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958"/>
              <a:ext cx="22615836" cy="12537883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15836" cy="249933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49668"/>
              <a:ext cx="22615836" cy="124966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17618" y="10062671"/>
              <a:ext cx="2225587" cy="74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2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67" y="2290396"/>
            <a:ext cx="0" cy="7590795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63061" y="5680560"/>
            <a:ext cx="16961877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725289" y="6869347"/>
            <a:ext cx="5403052" cy="2899707"/>
          </a:xfrm>
          <a:custGeom>
            <a:avLst/>
            <a:gdLst/>
            <a:ahLst/>
            <a:cxnLst/>
            <a:rect r="r" b="b" t="t" l="l"/>
            <a:pathLst>
              <a:path h="2899707" w="5403052">
                <a:moveTo>
                  <a:pt x="0" y="0"/>
                </a:moveTo>
                <a:lnTo>
                  <a:pt x="5403052" y="0"/>
                </a:lnTo>
                <a:lnTo>
                  <a:pt x="5403052" y="2899708"/>
                </a:lnTo>
                <a:lnTo>
                  <a:pt x="0" y="289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45697" y="2680509"/>
            <a:ext cx="4796651" cy="3105079"/>
          </a:xfrm>
          <a:custGeom>
            <a:avLst/>
            <a:gdLst/>
            <a:ahLst/>
            <a:cxnLst/>
            <a:rect r="r" b="b" t="t" l="l"/>
            <a:pathLst>
              <a:path h="3105079" w="4796651">
                <a:moveTo>
                  <a:pt x="0" y="0"/>
                </a:moveTo>
                <a:lnTo>
                  <a:pt x="4796652" y="0"/>
                </a:lnTo>
                <a:lnTo>
                  <a:pt x="4796652" y="3105078"/>
                </a:lnTo>
                <a:lnTo>
                  <a:pt x="0" y="3105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37559" y="2516673"/>
            <a:ext cx="4967229" cy="64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370" indent="-405185" lvl="1">
              <a:lnSpc>
                <a:spcPts val="5254"/>
              </a:lnSpc>
              <a:buAutoNum type="arabicPeriod" startAt="1"/>
            </a:pPr>
            <a:r>
              <a:rPr lang="en-US" b="true" sz="3753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45697" y="2321326"/>
            <a:ext cx="4312161" cy="64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370" indent="-405185" lvl="1">
              <a:lnSpc>
                <a:spcPts val="5254"/>
              </a:lnSpc>
              <a:buAutoNum type="arabicPeriod" startAt="1"/>
            </a:pPr>
            <a:r>
              <a:rPr lang="en-US" b="true" sz="3753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759" y="6071693"/>
            <a:ext cx="7270828" cy="64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9350" indent="-404675" lvl="1">
              <a:lnSpc>
                <a:spcPts val="5248"/>
              </a:lnSpc>
              <a:buAutoNum type="arabicPeriod" startAt="1"/>
            </a:pPr>
            <a:r>
              <a:rPr lang="en-US" b="true" sz="3748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3747" y="6071693"/>
            <a:ext cx="6956061" cy="64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350" indent="-404675" lvl="1">
              <a:lnSpc>
                <a:spcPts val="5248"/>
              </a:lnSpc>
              <a:buAutoNum type="arabicPeriod" startAt="1"/>
            </a:pPr>
            <a:r>
              <a:rPr lang="en-US" b="true" sz="3748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9633" y="973913"/>
            <a:ext cx="9688735" cy="1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b="true" sz="4621" i="true" spc="-406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08 - Acetaminophen (paracetamol)</a:t>
            </a:r>
          </a:p>
          <a:p>
            <a:pPr algn="ctr">
              <a:lnSpc>
                <a:spcPts val="3974"/>
              </a:lnSpc>
            </a:pPr>
            <a:r>
              <a:rPr lang="en-US" b="true" sz="4621" i="true" spc="-406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C₈H₉NO₂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1228" y="3113092"/>
            <a:ext cx="6186216" cy="209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62"/>
              </a:lnSpc>
            </a:pPr>
            <a:r>
              <a:rPr lang="en-US" b="true" sz="12330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C₈H₉NO₂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3536" y="7129884"/>
            <a:ext cx="6981600" cy="118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b="true" sz="687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HOC₆H₄NHCOCH₃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2191" y="388565"/>
            <a:ext cx="17023618" cy="9509871"/>
            <a:chOff x="0" y="0"/>
            <a:chExt cx="22698157" cy="12679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307"/>
              <a:ext cx="22698157" cy="12583521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98157" cy="2508433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4217"/>
              <a:ext cx="22698157" cy="125421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81381" y="10099298"/>
              <a:ext cx="2233688" cy="751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30" y="2280011"/>
            <a:ext cx="0" cy="7618425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32191" y="5682515"/>
            <a:ext cx="17023618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967272" y="6917438"/>
            <a:ext cx="3308265" cy="2650076"/>
          </a:xfrm>
          <a:custGeom>
            <a:avLst/>
            <a:gdLst/>
            <a:ahLst/>
            <a:cxnLst/>
            <a:rect r="r" b="b" t="t" l="l"/>
            <a:pathLst>
              <a:path h="2650076" w="3308265">
                <a:moveTo>
                  <a:pt x="0" y="0"/>
                </a:moveTo>
                <a:lnTo>
                  <a:pt x="3308265" y="0"/>
                </a:lnTo>
                <a:lnTo>
                  <a:pt x="3308265" y="2650076"/>
                </a:lnTo>
                <a:lnTo>
                  <a:pt x="0" y="2650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44937" y="2867601"/>
            <a:ext cx="4352935" cy="3018035"/>
          </a:xfrm>
          <a:custGeom>
            <a:avLst/>
            <a:gdLst/>
            <a:ahLst/>
            <a:cxnLst/>
            <a:rect r="r" b="b" t="t" l="l"/>
            <a:pathLst>
              <a:path h="3018035" w="4352935">
                <a:moveTo>
                  <a:pt x="0" y="0"/>
                </a:moveTo>
                <a:lnTo>
                  <a:pt x="4352935" y="0"/>
                </a:lnTo>
                <a:lnTo>
                  <a:pt x="4352935" y="3018035"/>
                </a:lnTo>
                <a:lnTo>
                  <a:pt x="0" y="3018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12420" y="2507389"/>
            <a:ext cx="4985309" cy="64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20" indent="-406660" lvl="1">
              <a:lnSpc>
                <a:spcPts val="5273"/>
              </a:lnSpc>
              <a:buAutoNum type="arabicPeriod" startAt="1"/>
            </a:pPr>
            <a:r>
              <a:rPr lang="en-US" b="true" sz="3767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2983" y="2295465"/>
            <a:ext cx="4327857" cy="64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20" indent="-406660" lvl="1">
              <a:lnSpc>
                <a:spcPts val="5273"/>
              </a:lnSpc>
              <a:buAutoNum type="arabicPeriod" startAt="1"/>
            </a:pPr>
            <a:r>
              <a:rPr lang="en-US" b="true" sz="3767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428" y="6075348"/>
            <a:ext cx="7297294" cy="64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2296" indent="-406148" lvl="1">
              <a:lnSpc>
                <a:spcPts val="5267"/>
              </a:lnSpc>
              <a:buAutoNum type="arabicPeriod" startAt="1"/>
            </a:pPr>
            <a:r>
              <a:rPr lang="en-US" b="true" sz="3762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6221" y="6075348"/>
            <a:ext cx="6981381" cy="64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296" indent="-406148" lvl="1">
              <a:lnSpc>
                <a:spcPts val="5267"/>
              </a:lnSpc>
              <a:buAutoNum type="arabicPeriod" startAt="1"/>
            </a:pPr>
            <a:r>
              <a:rPr lang="en-US" b="true" sz="3762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1969" y="967741"/>
            <a:ext cx="8737956" cy="104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</a:pPr>
            <a:r>
              <a:rPr lang="en-US" b="true" sz="4638" i="true" spc="-408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09 - Aspirin (acetylsalicylicacid)</a:t>
            </a:r>
          </a:p>
          <a:p>
            <a:pPr algn="ctr">
              <a:lnSpc>
                <a:spcPts val="3988"/>
              </a:lnSpc>
            </a:pPr>
            <a:r>
              <a:rPr lang="en-US" b="true" sz="4638" i="true" spc="-408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C₉H₈O₄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6770" y="2882466"/>
            <a:ext cx="5970955" cy="241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0"/>
              </a:lnSpc>
            </a:pPr>
            <a:r>
              <a:rPr lang="en-US" b="true" sz="14107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C₉H₈O₄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396" y="7156719"/>
            <a:ext cx="6912326" cy="108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b="true" sz="631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CH₃COOC₆H₄COOH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551" y="526609"/>
            <a:ext cx="16996898" cy="9494944"/>
            <a:chOff x="0" y="0"/>
            <a:chExt cx="22662530" cy="12659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156"/>
              <a:ext cx="22662530" cy="12563770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62530" cy="250449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248"/>
              <a:ext cx="22662530" cy="125224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125D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53785" y="10083447"/>
              <a:ext cx="2230182" cy="750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46" y="2415086"/>
            <a:ext cx="0" cy="7606467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45551" y="5812250"/>
            <a:ext cx="16996898" cy="0"/>
          </a:xfrm>
          <a:prstGeom prst="line">
            <a:avLst/>
          </a:prstGeom>
          <a:ln cap="flat" w="47625">
            <a:solidFill>
              <a:srgbClr val="ABBCD5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922487" y="3024107"/>
            <a:ext cx="2775751" cy="2788143"/>
          </a:xfrm>
          <a:custGeom>
            <a:avLst/>
            <a:gdLst/>
            <a:ahLst/>
            <a:cxnLst/>
            <a:rect r="r" b="b" t="t" l="l"/>
            <a:pathLst>
              <a:path h="2788143" w="2775751">
                <a:moveTo>
                  <a:pt x="0" y="0"/>
                </a:moveTo>
                <a:lnTo>
                  <a:pt x="2775751" y="0"/>
                </a:lnTo>
                <a:lnTo>
                  <a:pt x="2775751" y="2788143"/>
                </a:lnTo>
                <a:lnTo>
                  <a:pt x="0" y="2788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64701" y="6479885"/>
            <a:ext cx="4212806" cy="3541668"/>
          </a:xfrm>
          <a:custGeom>
            <a:avLst/>
            <a:gdLst/>
            <a:ahLst/>
            <a:cxnLst/>
            <a:rect r="r" b="b" t="t" l="l"/>
            <a:pathLst>
              <a:path h="3541668" w="4212806">
                <a:moveTo>
                  <a:pt x="0" y="0"/>
                </a:moveTo>
                <a:lnTo>
                  <a:pt x="4212806" y="0"/>
                </a:lnTo>
                <a:lnTo>
                  <a:pt x="4212806" y="3541668"/>
                </a:lnTo>
                <a:lnTo>
                  <a:pt x="0" y="3541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23300" y="2641987"/>
            <a:ext cx="4977484" cy="64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043" indent="-406022" lvl="1">
              <a:lnSpc>
                <a:spcPts val="5265"/>
              </a:lnSpc>
              <a:buAutoNum type="arabicPeriod" startAt="1"/>
            </a:pPr>
            <a:r>
              <a:rPr lang="en-US" b="true" sz="376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4701" y="2468817"/>
            <a:ext cx="4321064" cy="64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043" indent="-406022" lvl="1">
              <a:lnSpc>
                <a:spcPts val="5265"/>
              </a:lnSpc>
              <a:buAutoNum type="arabicPeriod" startAt="1"/>
            </a:pPr>
            <a:r>
              <a:rPr lang="en-US" b="true" sz="3761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122" y="6204347"/>
            <a:ext cx="7285840" cy="64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1021" indent="-405510" lvl="1">
              <a:lnSpc>
                <a:spcPts val="5259"/>
              </a:lnSpc>
              <a:buAutoNum type="arabicPeriod" startAt="1"/>
            </a:pPr>
            <a:r>
              <a:rPr lang="en-US" b="true" sz="375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5151" y="6204347"/>
            <a:ext cx="6970423" cy="64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021" indent="-405510" lvl="1">
              <a:lnSpc>
                <a:spcPts val="5259"/>
              </a:lnSpc>
              <a:buAutoNum type="arabicPeriod" startAt="1"/>
            </a:pPr>
            <a:r>
              <a:rPr lang="en-US" b="true" sz="3756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901" y="1095590"/>
            <a:ext cx="7303461" cy="105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b="true" sz="4630" i="true" spc="-407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CARD 10 - Caffeine</a:t>
            </a:r>
          </a:p>
          <a:p>
            <a:pPr algn="ctr">
              <a:lnSpc>
                <a:spcPts val="3982"/>
              </a:lnSpc>
            </a:pPr>
            <a:r>
              <a:rPr lang="en-US" b="true" sz="4630" i="true" spc="-407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Molecular Formula: C₈H₁₀N₄O₂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2050" y="3330501"/>
            <a:ext cx="6852911" cy="19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b="true" sz="11373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C₈H₁₀N₄O₂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586" y="6888409"/>
            <a:ext cx="6852911" cy="194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b="true" sz="11373" i="true">
                <a:solidFill>
                  <a:srgbClr val="0000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C₈H₁₀N₄O₂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DAHXCn1YBa0</dc:identifier>
  <dcterms:modified xsi:type="dcterms:W3CDTF">2011-08-01T06:04:30Z</dcterms:modified>
  <cp:revision>1</cp:revision>
  <dc:title>002_molecule_representation_source_monreal</dc:title>
</cp:coreProperties>
</file>